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
      <p:font typeface="Montserrat"/>
      <p:regular r:id="rId24"/>
      <p:bold r:id="rId25"/>
      <p:italic r:id="rId26"/>
      <p:boldItalic r:id="rId27"/>
    </p:embeddedFont>
    <p:embeddedFont>
      <p:font typeface="La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Montserrat-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Lato-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c7b3214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c7b3214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c7b3214b0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c7b3214b0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chose this problem because reaction time is connected to cognitive functioning, and many students deal with poor sleep, stress, and irregular routines. Research shows mixed results on how fatigue impacts reaction time. Sometimes it’s slower, sometimes unchanged, and sometimes even improved in certain contexts like sports. So we wanted to examine lifestyle variables such as stress, sleep, and caffeine to see which ones mattered most. Understanding this could help students make healthier choices and improve cognitive performance.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c7b3214b0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c7b3214b0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goal was to identify features that show meaningful relationships to reaction time and use them to build predictive models. We followed a structured approach:</a:t>
            </a:r>
            <a:endParaRPr/>
          </a:p>
          <a:p>
            <a:pPr indent="0" lvl="0" marL="0" rtl="0" algn="l">
              <a:spcBef>
                <a:spcPts val="0"/>
              </a:spcBef>
              <a:spcAft>
                <a:spcPts val="0"/>
              </a:spcAft>
              <a:buClr>
                <a:schemeClr val="dk1"/>
              </a:buClr>
              <a:buSzPts val="1100"/>
              <a:buFont typeface="Arial"/>
              <a:buNone/>
            </a:pPr>
            <a:r>
              <a:rPr lang="en"/>
              <a:t>First, we cleaned and prepared the data by dropping unnecessary columns and converting categorical variables.</a:t>
            </a:r>
            <a:endParaRPr/>
          </a:p>
          <a:p>
            <a:pPr indent="0" lvl="0" marL="0" rtl="0" algn="l">
              <a:spcBef>
                <a:spcPts val="0"/>
              </a:spcBef>
              <a:spcAft>
                <a:spcPts val="0"/>
              </a:spcAft>
              <a:buClr>
                <a:schemeClr val="dk1"/>
              </a:buClr>
              <a:buSzPts val="1100"/>
              <a:buFont typeface="Arial"/>
              <a:buNone/>
            </a:pPr>
            <a:r>
              <a:rPr lang="en"/>
              <a:t>Next, we scaled our numerical features and then split our data into training and testing sets.</a:t>
            </a:r>
            <a:endParaRPr/>
          </a:p>
          <a:p>
            <a:pPr indent="0" lvl="0" marL="0" rtl="0" algn="l">
              <a:spcBef>
                <a:spcPts val="0"/>
              </a:spcBef>
              <a:spcAft>
                <a:spcPts val="0"/>
              </a:spcAft>
              <a:buClr>
                <a:schemeClr val="dk1"/>
              </a:buClr>
              <a:buSzPts val="1100"/>
              <a:buFont typeface="Arial"/>
              <a:buNone/>
            </a:pPr>
            <a:r>
              <a:rPr lang="en"/>
              <a:t>After that, we applied several regression models, both linear and non-linear to predict reaction time.</a:t>
            </a:r>
            <a:endParaRPr/>
          </a:p>
          <a:p>
            <a:pPr indent="0" lvl="0" marL="0" rtl="0" algn="l">
              <a:spcBef>
                <a:spcPts val="0"/>
              </a:spcBef>
              <a:spcAft>
                <a:spcPts val="0"/>
              </a:spcAft>
              <a:buNone/>
            </a:pPr>
            <a:r>
              <a:rPr lang="en"/>
              <a:t>Finally, we evaluated the performance of each model to determine which approach worked best.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c7b3214b0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c7b3214b0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dataset is the Human Cognitive Performance Analysis dataset from Kaggle. It contains 80,000 rows and 13 columns. After cleaning, We removed features like User ID and Diet Type because they didn’t contribute meaningfully to prediction and added 4 columns back in that we created like Fatigue and Stimulation. Reaction Time became our target, and we used the other features as predictors. Since reaction time is part of the dataset’s broader cognitive score metric, we focused specifically on isolating it as our main variable of interest.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dac0d59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dac0d59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 began preprocessing by loading the dataset into Google Colab. We confirmed that there were no null values, which simplified our cleaning process.</a:t>
            </a:r>
            <a:endParaRPr/>
          </a:p>
          <a:p>
            <a:pPr indent="0" lvl="0" marL="0" rtl="0" algn="l">
              <a:spcBef>
                <a:spcPts val="0"/>
              </a:spcBef>
              <a:spcAft>
                <a:spcPts val="0"/>
              </a:spcAft>
              <a:buClr>
                <a:schemeClr val="dk1"/>
              </a:buClr>
              <a:buSzPts val="1100"/>
              <a:buFont typeface="Arial"/>
              <a:buNone/>
            </a:pPr>
            <a:r>
              <a:rPr lang="en"/>
              <a:t>Next, we converted categorical features, such as Gender and Exercise Frequency, into numerical values.</a:t>
            </a:r>
            <a:endParaRPr/>
          </a:p>
          <a:p>
            <a:pPr indent="0" lvl="0" marL="0" rtl="0" algn="l">
              <a:spcBef>
                <a:spcPts val="0"/>
              </a:spcBef>
              <a:spcAft>
                <a:spcPts val="0"/>
              </a:spcAft>
              <a:buNone/>
            </a:pPr>
            <a:r>
              <a:rPr lang="en"/>
              <a:t>We also dropped Cognitive Score and AI Predicted Score since they were intended as targets in the original dataset, and including them would bias our model.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dac0d592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dac0d592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target variable is Reaction Time. Our key numerical features included Age, Sleep Duration, Stress Level, Daily Screen Time, Caffeine Intake, and Memory Score Test.</a:t>
            </a:r>
            <a:endParaRPr/>
          </a:p>
          <a:p>
            <a:pPr indent="0" lvl="0" marL="0" rtl="0" algn="l">
              <a:spcBef>
                <a:spcPts val="0"/>
              </a:spcBef>
              <a:spcAft>
                <a:spcPts val="0"/>
              </a:spcAft>
              <a:buClr>
                <a:schemeClr val="dk1"/>
              </a:buClr>
              <a:buSzPts val="1100"/>
              <a:buFont typeface="Arial"/>
              <a:buNone/>
            </a:pPr>
            <a:r>
              <a:rPr lang="en"/>
              <a:t>Categorical features included Gender and Exercise Frequency.</a:t>
            </a:r>
            <a:endParaRPr/>
          </a:p>
          <a:p>
            <a:pPr indent="0" lvl="0" marL="0" rtl="0" algn="l">
              <a:spcBef>
                <a:spcPts val="0"/>
              </a:spcBef>
              <a:spcAft>
                <a:spcPts val="0"/>
              </a:spcAft>
              <a:buNone/>
            </a:pPr>
            <a:r>
              <a:rPr lang="en"/>
              <a:t>On the next slide you’ll see our correlation heatmap, which confirms that most features have extremely weak relationships, and a histogram showing reaction time is evenly distributed. This even distribution is good for modeling, but the lack of correlation suggests weak predictive power overall.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c7b3214b0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c7b3214b0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 on the left you can see the correlation heatmap. Notice there are very few strong relationships, and none appear with Reaction Time.</a:t>
            </a:r>
            <a:endParaRPr/>
          </a:p>
          <a:p>
            <a:pPr indent="0" lvl="0" marL="0" rtl="0" algn="l">
              <a:spcBef>
                <a:spcPts val="0"/>
              </a:spcBef>
              <a:spcAft>
                <a:spcPts val="0"/>
              </a:spcAft>
              <a:buNone/>
            </a:pPr>
            <a:r>
              <a:rPr lang="en"/>
              <a:t>On the right, the histogram shows that reaction time values form a well-distributed range, which is useful for regression models. This combination of weak correlations but strong distribution hinted that linear models might struggle, while non-linear models could still capture subtle patterns.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c7b3214b0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c7b3214b0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t>
            </a:r>
            <a:r>
              <a:rPr lang="en">
                <a:solidFill>
                  <a:schemeClr val="dk1"/>
                </a:solidFill>
              </a:rPr>
              <a:t>e split our dataset and performed cross-validation. The results were close to zero, with an average mean score of –0.0001. This confirmed that our features didn’t strongly relate to reaction time.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still implemented three models: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Linear Regression</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Polynomial Regression</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Decision Tree Regression</a:t>
            </a:r>
            <a:endParaRPr b="1">
              <a:solidFill>
                <a:schemeClr val="dk1"/>
              </a:solidFill>
            </a:endParaRPr>
          </a:p>
          <a:p>
            <a:pPr indent="0" lvl="0" marL="0" rtl="0" algn="l">
              <a:spcBef>
                <a:spcPts val="0"/>
              </a:spcBef>
              <a:spcAft>
                <a:spcPts val="0"/>
              </a:spcAft>
              <a:buNone/>
            </a:pPr>
            <a:r>
              <a:rPr lang="en">
                <a:solidFill>
                  <a:schemeClr val="dk1"/>
                </a:solidFill>
              </a:rPr>
              <a:t>These gave us a mix of linear and non-linear approaches to compare performance.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c7b3214b0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c7b3214b0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linear regression models ended up with an intercept around 400. Which is the mean of reaction time. That means the model basically predicted the average value regardless of input features.</a:t>
            </a:r>
            <a:endParaRPr/>
          </a:p>
          <a:p>
            <a:pPr indent="0" lvl="0" marL="0" rtl="0" algn="l">
              <a:spcBef>
                <a:spcPts val="0"/>
              </a:spcBef>
              <a:spcAft>
                <a:spcPts val="0"/>
              </a:spcAft>
              <a:buClr>
                <a:schemeClr val="dk1"/>
              </a:buClr>
              <a:buSzPts val="1100"/>
              <a:buFont typeface="Arial"/>
              <a:buNone/>
            </a:pPr>
            <a:r>
              <a:rPr lang="en"/>
              <a:t>The coefficients for each feature were almost zero, reflecting how weak those relationships were.</a:t>
            </a:r>
            <a:endParaRPr/>
          </a:p>
          <a:p>
            <a:pPr indent="0" lvl="0" marL="0" rtl="0" algn="l">
              <a:spcBef>
                <a:spcPts val="0"/>
              </a:spcBef>
              <a:spcAft>
                <a:spcPts val="0"/>
              </a:spcAft>
              <a:buNone/>
            </a:pPr>
            <a:r>
              <a:rPr lang="en"/>
              <a:t>The polynomial model introduced more variation but still struggled.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c7b3214b0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c7b3214b0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decision tree regression produced much more varied predictions, ranging from about 300 to 500 milliseconds. Although this didn’t capture the full range of the dataset, the model performed better because decision trees can identify non-linear relationships.</a:t>
            </a:r>
            <a:endParaRPr/>
          </a:p>
          <a:p>
            <a:pPr indent="0" lvl="0" marL="0" rtl="0" algn="l">
              <a:spcBef>
                <a:spcPts val="0"/>
              </a:spcBef>
              <a:spcAft>
                <a:spcPts val="0"/>
              </a:spcAft>
              <a:buNone/>
            </a:pPr>
            <a:r>
              <a:rPr lang="en"/>
              <a:t>We limited the depth to avoid overfitting, and deeper trees might have improved accuracy at the cost of generalization.”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dac0d592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dac0d592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linear models performed poorly because the intercept dominated and feature influence was minimal.</a:t>
            </a:r>
            <a:endParaRPr/>
          </a:p>
          <a:p>
            <a:pPr indent="0" lvl="0" marL="0" rtl="0" algn="l">
              <a:spcBef>
                <a:spcPts val="0"/>
              </a:spcBef>
              <a:spcAft>
                <a:spcPts val="0"/>
              </a:spcAft>
              <a:buClr>
                <a:schemeClr val="dk1"/>
              </a:buClr>
              <a:buSzPts val="1100"/>
              <a:buFont typeface="Arial"/>
              <a:buNone/>
            </a:pPr>
            <a:r>
              <a:rPr lang="en"/>
              <a:t>The decision tree performed better because it could model non-linear patterns. Even though our depth was only three layers, it still picked up more structure than linear models.</a:t>
            </a:r>
            <a:endParaRPr/>
          </a:p>
          <a:p>
            <a:pPr indent="0" lvl="0" marL="0" rtl="0" algn="l">
              <a:spcBef>
                <a:spcPts val="0"/>
              </a:spcBef>
              <a:spcAft>
                <a:spcPts val="0"/>
              </a:spcAft>
              <a:buNone/>
            </a:pPr>
            <a:r>
              <a:rPr lang="en"/>
              <a:t>However, all RMSE values were fairly high, reflecting that none of our features were strong predictors.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c7b3214b0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c7b3214b0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his comparison summarizes our models: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Decision Tree:</a:t>
            </a:r>
            <a:r>
              <a:rPr lang="en">
                <a:solidFill>
                  <a:schemeClr val="dk1"/>
                </a:solidFill>
              </a:rPr>
              <a:t> RMSE = ~98 → Best model</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Linear Regression:</a:t>
            </a:r>
            <a:r>
              <a:rPr lang="en">
                <a:solidFill>
                  <a:schemeClr val="dk1"/>
                </a:solidFill>
              </a:rPr>
              <a:t> RMSE = ~115 → Slightly worse</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Polynomial Regression:</a:t>
            </a:r>
            <a:r>
              <a:rPr lang="en">
                <a:solidFill>
                  <a:schemeClr val="dk1"/>
                </a:solidFill>
              </a:rPr>
              <a:t> RMSE = ~115.3 → Worst model</a:t>
            </a:r>
            <a:endParaRPr>
              <a:solidFill>
                <a:schemeClr val="dk1"/>
              </a:solidFill>
            </a:endParaRPr>
          </a:p>
          <a:p>
            <a:pPr indent="0" lvl="0" marL="0" rtl="0" algn="l">
              <a:spcBef>
                <a:spcPts val="0"/>
              </a:spcBef>
              <a:spcAft>
                <a:spcPts val="0"/>
              </a:spcAft>
              <a:buNone/>
            </a:pPr>
            <a:r>
              <a:rPr lang="en">
                <a:solidFill>
                  <a:schemeClr val="dk1"/>
                </a:solidFill>
              </a:rPr>
              <a:t>The decision tree outperformed the others by identifying splits in features like Stimulation, Fatigue, and Balance. This confirms the data behaves more non-linearly but still doesn’t give us strong predictive power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c7b3214b0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c7b3214b0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conclusion, our dataset showed extremely weak correlations between our features and reaction time.</a:t>
            </a:r>
            <a:endParaRPr/>
          </a:p>
          <a:p>
            <a:pPr indent="0" lvl="0" marL="0" rtl="0" algn="l">
              <a:spcBef>
                <a:spcPts val="0"/>
              </a:spcBef>
              <a:spcAft>
                <a:spcPts val="0"/>
              </a:spcAft>
              <a:buClr>
                <a:schemeClr val="dk1"/>
              </a:buClr>
              <a:buSzPts val="1100"/>
              <a:buFont typeface="Arial"/>
              <a:buNone/>
            </a:pPr>
            <a:r>
              <a:rPr lang="en"/>
              <a:t>All models  linear and non-linear had high RMSE values, meaning predictions were not very accurate.</a:t>
            </a:r>
            <a:endParaRPr/>
          </a:p>
          <a:p>
            <a:pPr indent="0" lvl="0" marL="0" rtl="0" algn="l">
              <a:spcBef>
                <a:spcPts val="0"/>
              </a:spcBef>
              <a:spcAft>
                <a:spcPts val="0"/>
              </a:spcAft>
              <a:buClr>
                <a:schemeClr val="dk1"/>
              </a:buClr>
              <a:buSzPts val="1100"/>
              <a:buFont typeface="Arial"/>
              <a:buNone/>
            </a:pPr>
            <a:r>
              <a:rPr lang="en"/>
              <a:t>This suggests that the features we had available to us from the dataset are insufficient for predicting reaction time.</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c7b3214b0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c7b3214b0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oewinmoodle.coe.edu/moodle/user/profile.php?id=1237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journals.plos.org/plosone/article?id=10.1371/journal.pone.022767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datasets/samxsam/human-cognitive-performance-analysis"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doi.org/10.3390/ijerph19074146" TargetMode="External"/><Relationship Id="rId4" Type="http://schemas.openxmlformats.org/officeDocument/2006/relationships/hyperlink" Target="https://doi.org/10.4085/1062-6050-164-19" TargetMode="External"/><Relationship Id="rId11" Type="http://schemas.openxmlformats.org/officeDocument/2006/relationships/hyperlink" Target="https://www.sleepfoundation.org/sleep-news/how-video-games-affect-sleep-quality-over-time" TargetMode="External"/><Relationship Id="rId10" Type="http://schemas.openxmlformats.org/officeDocument/2006/relationships/hyperlink" Target="https://doi.org/10.4018/IJER.20210101.oa1" TargetMode="External"/><Relationship Id="rId12" Type="http://schemas.openxmlformats.org/officeDocument/2006/relationships/hyperlink" Target="https://www.uwlax.edu/news/posts/an-esports-edge" TargetMode="External"/><Relationship Id="rId9" Type="http://schemas.openxmlformats.org/officeDocument/2006/relationships/hyperlink" Target="https://doi.org/10.18061/ojs.v121i2.7677" TargetMode="External"/><Relationship Id="rId5" Type="http://schemas.openxmlformats.org/officeDocument/2006/relationships/hyperlink" Target="https://doi.org/10.1371/journal.pone.0227675" TargetMode="External"/><Relationship Id="rId6" Type="http://schemas.openxmlformats.org/officeDocument/2006/relationships/hyperlink" Target="https://doi.org/10.1371/journal.pone.0231152" TargetMode="External"/><Relationship Id="rId7" Type="http://schemas.openxmlformats.org/officeDocument/2006/relationships/hyperlink" Target="https://doi.org/10.1016/j.actaastro.2019.10.029" TargetMode="External"/><Relationship Id="rId8" Type="http://schemas.openxmlformats.org/officeDocument/2006/relationships/hyperlink" Target="https://www.kaggle.com/datasets/samxsam/human-cognitive-performance-analysi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nvSpPr>
        <p:spPr>
          <a:xfrm>
            <a:off x="7979075" y="4681800"/>
            <a:ext cx="1164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Fall 2025</a:t>
            </a:r>
            <a:endParaRPr sz="1800">
              <a:solidFill>
                <a:schemeClr val="dk2"/>
              </a:solidFill>
            </a:endParaRPr>
          </a:p>
        </p:txBody>
      </p:sp>
      <p:sp>
        <p:nvSpPr>
          <p:cNvPr id="135" name="Google Shape;135;p13"/>
          <p:cNvSpPr txBox="1"/>
          <p:nvPr/>
        </p:nvSpPr>
        <p:spPr>
          <a:xfrm>
            <a:off x="3269963" y="2624999"/>
            <a:ext cx="51168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chemeClr val="lt1"/>
                </a:solidFill>
                <a:latin typeface="Lato"/>
                <a:ea typeface="Lato"/>
                <a:cs typeface="Lato"/>
                <a:sym typeface="Lato"/>
              </a:rPr>
              <a:t>REM-Coders</a:t>
            </a:r>
            <a:endParaRPr sz="2300">
              <a:solidFill>
                <a:schemeClr val="lt1"/>
              </a:solidFill>
              <a:latin typeface="Lato"/>
              <a:ea typeface="Lato"/>
              <a:cs typeface="Lato"/>
              <a:sym typeface="Lato"/>
            </a:endParaRPr>
          </a:p>
        </p:txBody>
      </p:sp>
      <p:sp>
        <p:nvSpPr>
          <p:cNvPr id="136" name="Google Shape;136;p13"/>
          <p:cNvSpPr txBox="1"/>
          <p:nvPr/>
        </p:nvSpPr>
        <p:spPr>
          <a:xfrm>
            <a:off x="3269963" y="3243750"/>
            <a:ext cx="5116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Lato"/>
                <a:ea typeface="Lato"/>
                <a:cs typeface="Lato"/>
                <a:sym typeface="Lato"/>
              </a:rPr>
              <a:t>Cody Krawczyk and </a:t>
            </a:r>
            <a:r>
              <a:rPr lang="en" sz="1800">
                <a:solidFill>
                  <a:schemeClr val="lt1"/>
                </a:solidFill>
                <a:latin typeface="Lato"/>
                <a:ea typeface="Lato"/>
                <a:cs typeface="Lato"/>
                <a:sym typeface="Lato"/>
              </a:rPr>
              <a:t>Max Higgins</a:t>
            </a:r>
            <a:endParaRPr sz="1800">
              <a:solidFill>
                <a:schemeClr val="lt1"/>
              </a:solidFill>
              <a:latin typeface="Lato"/>
              <a:ea typeface="Lato"/>
              <a:cs typeface="Lato"/>
              <a:sym typeface="Lato"/>
            </a:endParaRPr>
          </a:p>
        </p:txBody>
      </p:sp>
      <p:sp>
        <p:nvSpPr>
          <p:cNvPr id="137" name="Google Shape;137;p13"/>
          <p:cNvSpPr txBox="1"/>
          <p:nvPr/>
        </p:nvSpPr>
        <p:spPr>
          <a:xfrm>
            <a:off x="0" y="4681800"/>
            <a:ext cx="1927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Lato"/>
                <a:ea typeface="Lato"/>
                <a:cs typeface="Lato"/>
                <a:sym typeface="Lato"/>
              </a:rPr>
              <a:t>N</a:t>
            </a:r>
            <a:r>
              <a:rPr lang="en" sz="1800">
                <a:solidFill>
                  <a:schemeClr val="lt1"/>
                </a:solidFill>
                <a:uFill>
                  <a:noFill/>
                </a:uFill>
                <a:latin typeface="Lato"/>
                <a:ea typeface="Lato"/>
                <a:cs typeface="Lato"/>
                <a:sym typeface="Lato"/>
                <a:hlinkClick r:id="rId3">
                  <a:extLst>
                    <a:ext uri="{A12FA001-AC4F-418D-AE19-62706E023703}">
                      <ahyp:hlinkClr val="tx"/>
                    </a:ext>
                  </a:extLst>
                </a:hlinkClick>
              </a:rPr>
              <a:t>amrata Saha</a:t>
            </a:r>
            <a:endParaRPr sz="1800">
              <a:solidFill>
                <a:schemeClr val="lt1"/>
              </a:solidFill>
              <a:latin typeface="Lato"/>
              <a:ea typeface="Lato"/>
              <a:cs typeface="Lato"/>
              <a:sym typeface="Lato"/>
            </a:endParaRPr>
          </a:p>
        </p:txBody>
      </p:sp>
      <p:sp>
        <p:nvSpPr>
          <p:cNvPr id="138" name="Google Shape;138;p13"/>
          <p:cNvSpPr txBox="1"/>
          <p:nvPr>
            <p:ph type="ctrTitle"/>
          </p:nvPr>
        </p:nvSpPr>
        <p:spPr>
          <a:xfrm>
            <a:off x="3319613" y="589182"/>
            <a:ext cx="5017500" cy="157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800"/>
              <a:t>How Lifestyle Factors Affect Reaction Time</a:t>
            </a:r>
            <a:endParaRPr sz="3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Why This Matters</a:t>
            </a:r>
            <a:endParaRPr/>
          </a:p>
        </p:txBody>
      </p:sp>
      <p:sp>
        <p:nvSpPr>
          <p:cNvPr id="144" name="Google Shape;144;p14"/>
          <p:cNvSpPr txBox="1"/>
          <p:nvPr>
            <p:ph idx="1" type="body"/>
          </p:nvPr>
        </p:nvSpPr>
        <p:spPr>
          <a:xfrm>
            <a:off x="1052550" y="1116150"/>
            <a:ext cx="7038900" cy="3517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AutoNum type="arabicParenR"/>
            </a:pPr>
            <a:r>
              <a:rPr lang="en" sz="1500"/>
              <a:t>Many students experience poor sleep, stress, and inconsistent routines.</a:t>
            </a:r>
            <a:endParaRPr sz="1500"/>
          </a:p>
          <a:p>
            <a:pPr indent="0" lvl="0" marL="0" rtl="0" algn="l">
              <a:spcBef>
                <a:spcPts val="1200"/>
              </a:spcBef>
              <a:spcAft>
                <a:spcPts val="0"/>
              </a:spcAft>
              <a:buNone/>
            </a:pPr>
            <a:r>
              <a:t/>
            </a:r>
            <a:endParaRPr sz="1500"/>
          </a:p>
          <a:p>
            <a:pPr indent="-323850" lvl="0" marL="457200" rtl="0" algn="l">
              <a:spcBef>
                <a:spcPts val="1200"/>
              </a:spcBef>
              <a:spcAft>
                <a:spcPts val="0"/>
              </a:spcAft>
              <a:buSzPts val="1500"/>
              <a:buAutoNum type="arabicParenR"/>
            </a:pPr>
            <a:r>
              <a:rPr lang="en" sz="1500"/>
              <a:t>Reaction time is a measurable outcome that may reflect cognitive functioning and well-being. </a:t>
            </a:r>
            <a:endParaRPr sz="1500"/>
          </a:p>
          <a:p>
            <a:pPr indent="-323850" lvl="1" marL="914400" rtl="0" algn="l">
              <a:spcBef>
                <a:spcPts val="0"/>
              </a:spcBef>
              <a:spcAft>
                <a:spcPts val="0"/>
              </a:spcAft>
              <a:buSzPts val="1500"/>
              <a:buAutoNum type="alphaLcParenR"/>
            </a:pPr>
            <a:r>
              <a:rPr lang="en" sz="1500"/>
              <a:t>“Research indicates that fast reaction time is important in many sports, but the effect of fatigue has shown negative, null, or even positive influences on reaction time.” - </a:t>
            </a:r>
            <a:r>
              <a:rPr lang="en" sz="1500" u="sng">
                <a:solidFill>
                  <a:schemeClr val="hlink"/>
                </a:solidFill>
                <a:hlinkClick r:id="rId3"/>
              </a:rPr>
              <a:t>Acute fatigue affects reaction times and reaction consistency in Mixed Martial Arts fighters</a:t>
            </a:r>
            <a:r>
              <a:rPr lang="en" sz="1500"/>
              <a:t>.</a:t>
            </a:r>
            <a:endParaRPr sz="1500"/>
          </a:p>
          <a:p>
            <a:pPr indent="0" lvl="0" marL="457200" rtl="0" algn="l">
              <a:spcBef>
                <a:spcPts val="1200"/>
              </a:spcBef>
              <a:spcAft>
                <a:spcPts val="0"/>
              </a:spcAft>
              <a:buNone/>
            </a:pPr>
            <a:r>
              <a:t/>
            </a:r>
            <a:endParaRPr sz="1500"/>
          </a:p>
          <a:p>
            <a:pPr indent="-323850" lvl="0" marL="457200" rtl="0" algn="l">
              <a:spcBef>
                <a:spcPts val="1200"/>
              </a:spcBef>
              <a:spcAft>
                <a:spcPts val="0"/>
              </a:spcAft>
              <a:buSzPts val="1500"/>
              <a:buAutoNum type="arabicParenR"/>
            </a:pPr>
            <a:r>
              <a:rPr lang="en" sz="1500"/>
              <a:t>Understanding what factors most strongly influence performance may help students improve study habits or health.</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p:nvPr/>
        </p:nvSpPr>
        <p:spPr>
          <a:xfrm>
            <a:off x="1904016" y="3520589"/>
            <a:ext cx="594300" cy="36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highlight>
                <a:schemeClr val="lt2"/>
              </a:highlight>
            </a:endParaRPr>
          </a:p>
        </p:txBody>
      </p:sp>
      <p:sp>
        <p:nvSpPr>
          <p:cNvPr id="150" name="Google Shape;150;p15"/>
          <p:cNvSpPr/>
          <p:nvPr/>
        </p:nvSpPr>
        <p:spPr>
          <a:xfrm>
            <a:off x="4076229" y="3520589"/>
            <a:ext cx="594300" cy="369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6158204" y="3520589"/>
            <a:ext cx="594300" cy="36900"/>
          </a:xfrm>
          <a:prstGeom prst="roundRect">
            <a:avLst>
              <a:gd fmla="val 5000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txBox="1"/>
          <p:nvPr>
            <p:ph idx="1" type="body"/>
          </p:nvPr>
        </p:nvSpPr>
        <p:spPr>
          <a:xfrm>
            <a:off x="354325" y="1348475"/>
            <a:ext cx="7982100" cy="1693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200"/>
              </a:spcAft>
              <a:buNone/>
            </a:pPr>
            <a:r>
              <a:rPr lang="en" sz="1500"/>
              <a:t>Our goal is to find features that meaningfully relate to reaction time and use them to build a predictive model. The features we are considering are common associations linked with cognitive score, such as stress level, amount of sleep, age, caffeine intake, etc. Below</a:t>
            </a:r>
            <a:r>
              <a:rPr lang="en" sz="1500"/>
              <a:t>, we outlined the route we took to reach our goal, but we ran into some issues in our last step.</a:t>
            </a:r>
            <a:endParaRPr sz="1500"/>
          </a:p>
        </p:txBody>
      </p:sp>
      <p:sp>
        <p:nvSpPr>
          <p:cNvPr id="153" name="Google Shape;153;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Overview</a:t>
            </a:r>
            <a:endParaRPr/>
          </a:p>
        </p:txBody>
      </p:sp>
      <p:grpSp>
        <p:nvGrpSpPr>
          <p:cNvPr id="154" name="Google Shape;154;p15"/>
          <p:cNvGrpSpPr/>
          <p:nvPr/>
        </p:nvGrpSpPr>
        <p:grpSpPr>
          <a:xfrm>
            <a:off x="310589" y="3194313"/>
            <a:ext cx="1755000" cy="1878927"/>
            <a:chOff x="571536" y="1976200"/>
            <a:chExt cx="1755000" cy="1878927"/>
          </a:xfrm>
        </p:grpSpPr>
        <p:sp>
          <p:nvSpPr>
            <p:cNvPr id="155" name="Google Shape;155;p15"/>
            <p:cNvSpPr/>
            <p:nvPr/>
          </p:nvSpPr>
          <p:spPr>
            <a:xfrm>
              <a:off x="1151886" y="1976200"/>
              <a:ext cx="594300" cy="594300"/>
            </a:xfrm>
            <a:prstGeom prst="ellipse">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56" name="Google Shape;156;p15"/>
            <p:cNvSpPr txBox="1"/>
            <p:nvPr/>
          </p:nvSpPr>
          <p:spPr>
            <a:xfrm>
              <a:off x="1230646" y="2049609"/>
              <a:ext cx="436800" cy="427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800">
                  <a:solidFill>
                    <a:schemeClr val="lt2"/>
                  </a:solidFill>
                  <a:latin typeface="Roboto"/>
                  <a:ea typeface="Roboto"/>
                  <a:cs typeface="Roboto"/>
                  <a:sym typeface="Roboto"/>
                </a:rPr>
                <a:t>Step 1</a:t>
              </a:r>
              <a:endParaRPr b="1" sz="800">
                <a:solidFill>
                  <a:schemeClr val="lt2"/>
                </a:solidFill>
                <a:latin typeface="Roboto"/>
                <a:ea typeface="Roboto"/>
                <a:cs typeface="Roboto"/>
                <a:sym typeface="Roboto"/>
              </a:endParaRPr>
            </a:p>
          </p:txBody>
        </p:sp>
        <p:sp>
          <p:nvSpPr>
            <p:cNvPr id="157" name="Google Shape;157;p15"/>
            <p:cNvSpPr txBox="1"/>
            <p:nvPr/>
          </p:nvSpPr>
          <p:spPr>
            <a:xfrm>
              <a:off x="594488" y="2660925"/>
              <a:ext cx="17091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chemeClr val="lt2"/>
                  </a:solidFill>
                  <a:latin typeface="Roboto"/>
                  <a:ea typeface="Roboto"/>
                  <a:cs typeface="Roboto"/>
                  <a:sym typeface="Roboto"/>
                </a:rPr>
                <a:t>Clean and Prepare Data</a:t>
              </a:r>
              <a:endParaRPr b="1" sz="1000">
                <a:solidFill>
                  <a:schemeClr val="lt2"/>
                </a:solidFill>
                <a:latin typeface="Roboto"/>
                <a:ea typeface="Roboto"/>
                <a:cs typeface="Roboto"/>
                <a:sym typeface="Roboto"/>
              </a:endParaRPr>
            </a:p>
          </p:txBody>
        </p:sp>
        <p:sp>
          <p:nvSpPr>
            <p:cNvPr id="158" name="Google Shape;158;p15"/>
            <p:cNvSpPr txBox="1"/>
            <p:nvPr/>
          </p:nvSpPr>
          <p:spPr>
            <a:xfrm>
              <a:off x="571536" y="3117727"/>
              <a:ext cx="17550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800">
                  <a:solidFill>
                    <a:schemeClr val="lt2"/>
                  </a:solidFill>
                  <a:latin typeface="Roboto"/>
                  <a:ea typeface="Roboto"/>
                  <a:cs typeface="Roboto"/>
                  <a:sym typeface="Roboto"/>
                </a:rPr>
                <a:t>Drop “output” columns, deal with outliers, change categorical data to numerical values, and make sure there are no NULL values.</a:t>
              </a:r>
              <a:endParaRPr sz="800">
                <a:solidFill>
                  <a:schemeClr val="lt2"/>
                </a:solidFill>
                <a:latin typeface="Roboto"/>
                <a:ea typeface="Roboto"/>
                <a:cs typeface="Roboto"/>
                <a:sym typeface="Roboto"/>
              </a:endParaRPr>
            </a:p>
          </p:txBody>
        </p:sp>
      </p:grpSp>
      <p:grpSp>
        <p:nvGrpSpPr>
          <p:cNvPr id="159" name="Google Shape;159;p15"/>
          <p:cNvGrpSpPr/>
          <p:nvPr/>
        </p:nvGrpSpPr>
        <p:grpSpPr>
          <a:xfrm>
            <a:off x="2438476" y="3229627"/>
            <a:ext cx="1709103" cy="1897977"/>
            <a:chOff x="2699423" y="1957150"/>
            <a:chExt cx="1709103" cy="1897977"/>
          </a:xfrm>
        </p:grpSpPr>
        <p:sp>
          <p:nvSpPr>
            <p:cNvPr id="160" name="Google Shape;160;p15"/>
            <p:cNvSpPr/>
            <p:nvPr/>
          </p:nvSpPr>
          <p:spPr>
            <a:xfrm>
              <a:off x="3256823" y="1957150"/>
              <a:ext cx="594300" cy="594300"/>
            </a:xfrm>
            <a:prstGeom prst="ellipse">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
          <p:nvSpPr>
            <p:cNvPr id="161" name="Google Shape;161;p15"/>
            <p:cNvSpPr txBox="1"/>
            <p:nvPr/>
          </p:nvSpPr>
          <p:spPr>
            <a:xfrm>
              <a:off x="2699425" y="2660925"/>
              <a:ext cx="17091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chemeClr val="lt2"/>
                  </a:solidFill>
                  <a:latin typeface="Roboto"/>
                  <a:ea typeface="Roboto"/>
                  <a:cs typeface="Roboto"/>
                  <a:sym typeface="Roboto"/>
                </a:rPr>
                <a:t>Scale Numerical Features </a:t>
              </a:r>
              <a:endParaRPr b="1" sz="1000">
                <a:solidFill>
                  <a:schemeClr val="lt2"/>
                </a:solidFill>
                <a:latin typeface="Roboto"/>
                <a:ea typeface="Roboto"/>
                <a:cs typeface="Roboto"/>
                <a:sym typeface="Roboto"/>
              </a:endParaRPr>
            </a:p>
          </p:txBody>
        </p:sp>
        <p:sp>
          <p:nvSpPr>
            <p:cNvPr id="162" name="Google Shape;162;p15"/>
            <p:cNvSpPr txBox="1"/>
            <p:nvPr/>
          </p:nvSpPr>
          <p:spPr>
            <a:xfrm>
              <a:off x="2699423" y="3117727"/>
              <a:ext cx="17091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800">
                  <a:solidFill>
                    <a:schemeClr val="lt2"/>
                  </a:solidFill>
                  <a:latin typeface="Roboto"/>
                  <a:ea typeface="Roboto"/>
                  <a:cs typeface="Roboto"/>
                  <a:sym typeface="Roboto"/>
                </a:rPr>
                <a:t>Use the StandardScaler library to scale our numerical features.</a:t>
              </a:r>
              <a:endParaRPr sz="800">
                <a:solidFill>
                  <a:schemeClr val="lt2"/>
                </a:solidFill>
                <a:latin typeface="Roboto"/>
                <a:ea typeface="Roboto"/>
                <a:cs typeface="Roboto"/>
                <a:sym typeface="Roboto"/>
              </a:endParaRPr>
            </a:p>
          </p:txBody>
        </p:sp>
        <p:sp>
          <p:nvSpPr>
            <p:cNvPr id="163" name="Google Shape;163;p15"/>
            <p:cNvSpPr txBox="1"/>
            <p:nvPr/>
          </p:nvSpPr>
          <p:spPr>
            <a:xfrm>
              <a:off x="3335571" y="2011898"/>
              <a:ext cx="436800" cy="446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800">
                  <a:solidFill>
                    <a:schemeClr val="lt2"/>
                  </a:solidFill>
                  <a:latin typeface="Roboto"/>
                  <a:ea typeface="Roboto"/>
                  <a:cs typeface="Roboto"/>
                  <a:sym typeface="Roboto"/>
                </a:rPr>
                <a:t>Step 2</a:t>
              </a:r>
              <a:endParaRPr b="1" sz="800">
                <a:solidFill>
                  <a:schemeClr val="lt2"/>
                </a:solidFill>
                <a:latin typeface="Roboto"/>
                <a:ea typeface="Roboto"/>
                <a:cs typeface="Roboto"/>
                <a:sym typeface="Roboto"/>
              </a:endParaRPr>
            </a:p>
          </p:txBody>
        </p:sp>
      </p:grpSp>
      <p:grpSp>
        <p:nvGrpSpPr>
          <p:cNvPr id="164" name="Google Shape;164;p15"/>
          <p:cNvGrpSpPr/>
          <p:nvPr/>
        </p:nvGrpSpPr>
        <p:grpSpPr>
          <a:xfrm>
            <a:off x="4520461" y="3229627"/>
            <a:ext cx="1709106" cy="1897975"/>
            <a:chOff x="4781408" y="1957150"/>
            <a:chExt cx="1709106" cy="1897975"/>
          </a:xfrm>
        </p:grpSpPr>
        <p:sp>
          <p:nvSpPr>
            <p:cNvPr id="165" name="Google Shape;165;p15"/>
            <p:cNvSpPr/>
            <p:nvPr/>
          </p:nvSpPr>
          <p:spPr>
            <a:xfrm>
              <a:off x="5338808" y="1957150"/>
              <a:ext cx="594300" cy="594300"/>
            </a:xfrm>
            <a:prstGeom prst="ellipse">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txBox="1"/>
            <p:nvPr/>
          </p:nvSpPr>
          <p:spPr>
            <a:xfrm>
              <a:off x="4781413" y="2660925"/>
              <a:ext cx="17091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chemeClr val="lt2"/>
                  </a:solidFill>
                  <a:latin typeface="Roboto"/>
                  <a:ea typeface="Roboto"/>
                  <a:cs typeface="Roboto"/>
                  <a:sym typeface="Roboto"/>
                </a:rPr>
                <a:t>Train, Test &amp; Model Data</a:t>
              </a:r>
              <a:endParaRPr b="1" sz="1000">
                <a:solidFill>
                  <a:schemeClr val="lt2"/>
                </a:solidFill>
                <a:latin typeface="Roboto"/>
                <a:ea typeface="Roboto"/>
                <a:cs typeface="Roboto"/>
                <a:sym typeface="Roboto"/>
              </a:endParaRPr>
            </a:p>
          </p:txBody>
        </p:sp>
        <p:sp>
          <p:nvSpPr>
            <p:cNvPr id="167" name="Google Shape;167;p15"/>
            <p:cNvSpPr txBox="1"/>
            <p:nvPr/>
          </p:nvSpPr>
          <p:spPr>
            <a:xfrm>
              <a:off x="4781408" y="3117725"/>
              <a:ext cx="17091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800">
                  <a:solidFill>
                    <a:schemeClr val="lt2"/>
                  </a:solidFill>
                  <a:latin typeface="Roboto"/>
                  <a:ea typeface="Roboto"/>
                  <a:cs typeface="Roboto"/>
                  <a:sym typeface="Roboto"/>
                </a:rPr>
                <a:t>Split our data into Training and Testing and fit it into a regression model, such as linear or RF.</a:t>
              </a:r>
              <a:endParaRPr sz="800">
                <a:solidFill>
                  <a:schemeClr val="lt2"/>
                </a:solidFill>
                <a:latin typeface="Roboto"/>
                <a:ea typeface="Roboto"/>
                <a:cs typeface="Roboto"/>
                <a:sym typeface="Roboto"/>
              </a:endParaRPr>
            </a:p>
          </p:txBody>
        </p:sp>
        <p:sp>
          <p:nvSpPr>
            <p:cNvPr id="168" name="Google Shape;168;p15"/>
            <p:cNvSpPr txBox="1"/>
            <p:nvPr/>
          </p:nvSpPr>
          <p:spPr>
            <a:xfrm>
              <a:off x="5417546" y="2014298"/>
              <a:ext cx="436800" cy="482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800">
                  <a:solidFill>
                    <a:schemeClr val="lt2"/>
                  </a:solidFill>
                  <a:latin typeface="Roboto"/>
                  <a:ea typeface="Roboto"/>
                  <a:cs typeface="Roboto"/>
                  <a:sym typeface="Roboto"/>
                </a:rPr>
                <a:t>Step 3</a:t>
              </a:r>
              <a:endParaRPr b="1" sz="800">
                <a:solidFill>
                  <a:schemeClr val="lt2"/>
                </a:solidFill>
                <a:latin typeface="Roboto"/>
                <a:ea typeface="Roboto"/>
                <a:cs typeface="Roboto"/>
                <a:sym typeface="Roboto"/>
              </a:endParaRPr>
            </a:p>
          </p:txBody>
        </p:sp>
      </p:grpSp>
      <p:grpSp>
        <p:nvGrpSpPr>
          <p:cNvPr id="169" name="Google Shape;169;p15"/>
          <p:cNvGrpSpPr/>
          <p:nvPr/>
        </p:nvGrpSpPr>
        <p:grpSpPr>
          <a:xfrm>
            <a:off x="6602439" y="3194313"/>
            <a:ext cx="1709102" cy="1878927"/>
            <a:chOff x="6863386" y="1976200"/>
            <a:chExt cx="1709102" cy="1878927"/>
          </a:xfrm>
        </p:grpSpPr>
        <p:sp>
          <p:nvSpPr>
            <p:cNvPr id="170" name="Google Shape;170;p15"/>
            <p:cNvSpPr/>
            <p:nvPr/>
          </p:nvSpPr>
          <p:spPr>
            <a:xfrm>
              <a:off x="7420786" y="1976200"/>
              <a:ext cx="594300" cy="594300"/>
            </a:xfrm>
            <a:prstGeom prst="ellipse">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171" name="Google Shape;171;p15"/>
            <p:cNvSpPr txBox="1"/>
            <p:nvPr/>
          </p:nvSpPr>
          <p:spPr>
            <a:xfrm>
              <a:off x="6863388" y="2660925"/>
              <a:ext cx="1709100" cy="4464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None/>
              </a:pPr>
              <a:r>
                <a:rPr b="1" lang="en" sz="1000">
                  <a:solidFill>
                    <a:srgbClr val="FF0000"/>
                  </a:solidFill>
                  <a:latin typeface="Roboto"/>
                  <a:ea typeface="Roboto"/>
                  <a:cs typeface="Roboto"/>
                  <a:sym typeface="Roboto"/>
                </a:rPr>
                <a:t>Predict Reaction Time</a:t>
              </a:r>
              <a:endParaRPr b="1" sz="1000">
                <a:solidFill>
                  <a:srgbClr val="FF0000"/>
                </a:solidFill>
                <a:latin typeface="Roboto"/>
                <a:ea typeface="Roboto"/>
                <a:cs typeface="Roboto"/>
                <a:sym typeface="Roboto"/>
              </a:endParaRPr>
            </a:p>
          </p:txBody>
        </p:sp>
        <p:sp>
          <p:nvSpPr>
            <p:cNvPr id="172" name="Google Shape;172;p15"/>
            <p:cNvSpPr txBox="1"/>
            <p:nvPr/>
          </p:nvSpPr>
          <p:spPr>
            <a:xfrm>
              <a:off x="6863386" y="3117727"/>
              <a:ext cx="1709100" cy="737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800">
                  <a:solidFill>
                    <a:srgbClr val="FF0000"/>
                  </a:solidFill>
                  <a:latin typeface="Roboto"/>
                  <a:ea typeface="Roboto"/>
                  <a:cs typeface="Roboto"/>
                  <a:sym typeface="Roboto"/>
                </a:rPr>
                <a:t>Use features and our regression model to predict a reaction time.</a:t>
              </a:r>
              <a:endParaRPr sz="800">
                <a:solidFill>
                  <a:srgbClr val="FF0000"/>
                </a:solidFill>
                <a:latin typeface="Roboto"/>
                <a:ea typeface="Roboto"/>
                <a:cs typeface="Roboto"/>
                <a:sym typeface="Roboto"/>
              </a:endParaRPr>
            </a:p>
          </p:txBody>
        </p:sp>
        <p:sp>
          <p:nvSpPr>
            <p:cNvPr id="173" name="Google Shape;173;p15"/>
            <p:cNvSpPr txBox="1"/>
            <p:nvPr/>
          </p:nvSpPr>
          <p:spPr>
            <a:xfrm>
              <a:off x="7499546" y="2052406"/>
              <a:ext cx="436800" cy="482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b="1" lang="en" sz="800">
                  <a:solidFill>
                    <a:srgbClr val="FF0000"/>
                  </a:solidFill>
                  <a:latin typeface="Roboto"/>
                  <a:ea typeface="Roboto"/>
                  <a:cs typeface="Roboto"/>
                  <a:sym typeface="Roboto"/>
                </a:rPr>
                <a:t>Step 4</a:t>
              </a:r>
              <a:endParaRPr b="1" sz="800">
                <a:solidFill>
                  <a:srgbClr val="FF0000"/>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Dataset Information</a:t>
            </a:r>
            <a:endParaRPr/>
          </a:p>
        </p:txBody>
      </p:sp>
      <p:sp>
        <p:nvSpPr>
          <p:cNvPr id="179" name="Google Shape;179;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sz="1500"/>
              <a:t>Our raw dataset is </a:t>
            </a:r>
            <a:r>
              <a:rPr lang="en" sz="1500" u="sng">
                <a:solidFill>
                  <a:schemeClr val="hlink"/>
                </a:solidFill>
                <a:hlinkClick r:id="rId3"/>
              </a:rPr>
              <a:t>Human Cognitive Performance Analysis</a:t>
            </a:r>
            <a:r>
              <a:rPr lang="en" sz="1500"/>
              <a:t>, with 13 columns and 80,000 rows. We created a cleaned dataset, with 13 columns and 80,000 rows. Our summary statistics for our dataset is shown </a:t>
            </a:r>
            <a:r>
              <a:rPr lang="en" sz="1500"/>
              <a:t>below</a:t>
            </a:r>
            <a:r>
              <a:rPr lang="en" sz="1500"/>
              <a:t>. We felt since reaction time contributes to cognitive score, some of the other features could correlate to reaction time. We wanted to put Reaction Time against the other features, instead of Reaction Time being a feature itself.</a:t>
            </a:r>
            <a:endParaRPr sz="1500"/>
          </a:p>
        </p:txBody>
      </p:sp>
      <p:pic>
        <p:nvPicPr>
          <p:cNvPr id="180" name="Google Shape;180;p16"/>
          <p:cNvPicPr preferRelativeResize="0"/>
          <p:nvPr/>
        </p:nvPicPr>
        <p:blipFill>
          <a:blip r:embed="rId4">
            <a:alphaModFix/>
          </a:blip>
          <a:stretch>
            <a:fillRect/>
          </a:stretch>
        </p:blipFill>
        <p:spPr>
          <a:xfrm>
            <a:off x="0" y="3730010"/>
            <a:ext cx="9144002" cy="14134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Preprocessing </a:t>
            </a:r>
            <a:endParaRPr/>
          </a:p>
        </p:txBody>
      </p:sp>
      <p:sp>
        <p:nvSpPr>
          <p:cNvPr id="186" name="Google Shape;186;p1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t>To preprocess our data:</a:t>
            </a:r>
            <a:endParaRPr sz="1500"/>
          </a:p>
          <a:p>
            <a:pPr indent="-323850" lvl="0" marL="457200" rtl="0" algn="l">
              <a:lnSpc>
                <a:spcPct val="150000"/>
              </a:lnSpc>
              <a:spcBef>
                <a:spcPts val="1200"/>
              </a:spcBef>
              <a:spcAft>
                <a:spcPts val="0"/>
              </a:spcAft>
              <a:buSzPts val="1500"/>
              <a:buChar char="●"/>
            </a:pPr>
            <a:r>
              <a:rPr lang="en" sz="1500"/>
              <a:t>Downloaded a CSV file for our dataset.</a:t>
            </a:r>
            <a:endParaRPr sz="1500"/>
          </a:p>
          <a:p>
            <a:pPr indent="-323850" lvl="0" marL="457200" rtl="0" algn="l">
              <a:lnSpc>
                <a:spcPct val="150000"/>
              </a:lnSpc>
              <a:spcBef>
                <a:spcPts val="0"/>
              </a:spcBef>
              <a:spcAft>
                <a:spcPts val="0"/>
              </a:spcAft>
              <a:buSzPts val="1500"/>
              <a:buChar char="●"/>
            </a:pPr>
            <a:r>
              <a:rPr lang="en" sz="1500"/>
              <a:t>Removed any null rows.</a:t>
            </a:r>
            <a:endParaRPr sz="1500"/>
          </a:p>
          <a:p>
            <a:pPr indent="-323850" lvl="0" marL="457200" rtl="0" algn="l">
              <a:lnSpc>
                <a:spcPct val="150000"/>
              </a:lnSpc>
              <a:spcBef>
                <a:spcPts val="0"/>
              </a:spcBef>
              <a:spcAft>
                <a:spcPts val="0"/>
              </a:spcAft>
              <a:buSzPts val="1500"/>
              <a:buChar char="●"/>
            </a:pPr>
            <a:r>
              <a:rPr lang="en" sz="1500"/>
              <a:t>Dropped any columns that would skew our data.</a:t>
            </a:r>
            <a:endParaRPr sz="1500"/>
          </a:p>
          <a:p>
            <a:pPr indent="-323850" lvl="0" marL="457200" rtl="0" algn="l">
              <a:lnSpc>
                <a:spcPct val="150000"/>
              </a:lnSpc>
              <a:spcBef>
                <a:spcPts val="0"/>
              </a:spcBef>
              <a:spcAft>
                <a:spcPts val="0"/>
              </a:spcAft>
              <a:buSzPts val="1500"/>
              <a:buChar char="●"/>
            </a:pPr>
            <a:r>
              <a:rPr lang="en" sz="1500"/>
              <a:t>Removed outliers using the </a:t>
            </a:r>
            <a:r>
              <a:rPr lang="en" sz="1500"/>
              <a:t>Interquartile Range Method (IQR method).</a:t>
            </a:r>
            <a:endParaRPr sz="1500"/>
          </a:p>
          <a:p>
            <a:pPr indent="-323850" lvl="0" marL="457200" rtl="0" algn="l">
              <a:lnSpc>
                <a:spcPct val="150000"/>
              </a:lnSpc>
              <a:spcBef>
                <a:spcPts val="0"/>
              </a:spcBef>
              <a:spcAft>
                <a:spcPts val="0"/>
              </a:spcAft>
              <a:buSzPts val="1500"/>
              <a:buChar char="●"/>
            </a:pPr>
            <a:r>
              <a:rPr lang="en" sz="1500"/>
              <a:t>Added some new engineered features to help our model.</a:t>
            </a:r>
            <a:endParaRPr sz="1500"/>
          </a:p>
          <a:p>
            <a:pPr indent="-323850" lvl="0" marL="457200" rtl="0" algn="l">
              <a:lnSpc>
                <a:spcPct val="150000"/>
              </a:lnSpc>
              <a:spcBef>
                <a:spcPts val="0"/>
              </a:spcBef>
              <a:spcAft>
                <a:spcPts val="0"/>
              </a:spcAft>
              <a:buSzPts val="1500"/>
              <a:buChar char="●"/>
            </a:pPr>
            <a:r>
              <a:rPr lang="en" sz="1500"/>
              <a:t>Created a correlation heatmap.</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Data Analysis and Insights</a:t>
            </a:r>
            <a:endParaRPr/>
          </a:p>
        </p:txBody>
      </p:sp>
      <p:sp>
        <p:nvSpPr>
          <p:cNvPr id="192" name="Google Shape;192;p18"/>
          <p:cNvSpPr txBox="1"/>
          <p:nvPr>
            <p:ph idx="1" type="body"/>
          </p:nvPr>
        </p:nvSpPr>
        <p:spPr>
          <a:xfrm>
            <a:off x="1297500" y="1144025"/>
            <a:ext cx="7636200" cy="3416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1500"/>
              <a:t>In our dataset:</a:t>
            </a:r>
            <a:endParaRPr sz="1500"/>
          </a:p>
          <a:p>
            <a:pPr indent="-323850" lvl="0" marL="457200" rtl="0" algn="l">
              <a:lnSpc>
                <a:spcPct val="150000"/>
              </a:lnSpc>
              <a:spcBef>
                <a:spcPts val="1200"/>
              </a:spcBef>
              <a:spcAft>
                <a:spcPts val="0"/>
              </a:spcAft>
              <a:buSzPts val="1500"/>
              <a:buChar char="●"/>
            </a:pPr>
            <a:r>
              <a:rPr lang="en" sz="1500"/>
              <a:t>Our target label is Reaction Time</a:t>
            </a:r>
            <a:endParaRPr sz="1500"/>
          </a:p>
          <a:p>
            <a:pPr indent="-323850" lvl="0" marL="457200" rtl="0" algn="l">
              <a:lnSpc>
                <a:spcPct val="150000"/>
              </a:lnSpc>
              <a:spcBef>
                <a:spcPts val="0"/>
              </a:spcBef>
              <a:spcAft>
                <a:spcPts val="0"/>
              </a:spcAft>
              <a:buSzPts val="1500"/>
              <a:buChar char="●"/>
            </a:pPr>
            <a:r>
              <a:rPr lang="en" sz="1500"/>
              <a:t>Our key numerical features are Age, Sleep Duration, Stress Level, Daily Screen Time, Caffeine Intake, and Memory Score</a:t>
            </a:r>
            <a:endParaRPr sz="1500"/>
          </a:p>
          <a:p>
            <a:pPr indent="-323850" lvl="0" marL="457200" rtl="0" algn="l">
              <a:lnSpc>
                <a:spcPct val="150000"/>
              </a:lnSpc>
              <a:spcBef>
                <a:spcPts val="0"/>
              </a:spcBef>
              <a:spcAft>
                <a:spcPts val="0"/>
              </a:spcAft>
              <a:buSzPts val="1500"/>
              <a:buChar char="●"/>
            </a:pPr>
            <a:r>
              <a:rPr lang="en" sz="1500"/>
              <a:t>Our key categorical Features are Gender (Male, Female,  or Other) and </a:t>
            </a:r>
            <a:r>
              <a:rPr lang="en" sz="1500"/>
              <a:t>Exercise</a:t>
            </a:r>
            <a:r>
              <a:rPr lang="en" sz="1500"/>
              <a:t> Frequency (Low, Medium or High)</a:t>
            </a:r>
            <a:endParaRPr sz="1500"/>
          </a:p>
          <a:p>
            <a:pPr indent="0" lvl="0" marL="0" rtl="0" algn="l">
              <a:lnSpc>
                <a:spcPct val="150000"/>
              </a:lnSpc>
              <a:spcBef>
                <a:spcPts val="1200"/>
              </a:spcBef>
              <a:spcAft>
                <a:spcPts val="1200"/>
              </a:spcAft>
              <a:buNone/>
            </a:pPr>
            <a:r>
              <a:rPr lang="en" sz="1500"/>
              <a:t>Our next slides shows some visuals that help explain the correlation between our features as well as the spread of our target label.</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19" title="hist.png"/>
          <p:cNvPicPr preferRelativeResize="0"/>
          <p:nvPr/>
        </p:nvPicPr>
        <p:blipFill>
          <a:blip r:embed="rId3">
            <a:alphaModFix/>
          </a:blip>
          <a:stretch>
            <a:fillRect/>
          </a:stretch>
        </p:blipFill>
        <p:spPr>
          <a:xfrm>
            <a:off x="4179925" y="1461224"/>
            <a:ext cx="4817549" cy="3501925"/>
          </a:xfrm>
          <a:prstGeom prst="rect">
            <a:avLst/>
          </a:prstGeom>
          <a:noFill/>
          <a:ln>
            <a:noFill/>
          </a:ln>
        </p:spPr>
      </p:pic>
      <p:sp>
        <p:nvSpPr>
          <p:cNvPr id="198" name="Google Shape;198;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Data Analysis and Insights Visualization</a:t>
            </a:r>
            <a:endParaRPr/>
          </a:p>
        </p:txBody>
      </p:sp>
      <p:pic>
        <p:nvPicPr>
          <p:cNvPr id="199" name="Google Shape;199;p19"/>
          <p:cNvPicPr preferRelativeResize="0"/>
          <p:nvPr/>
        </p:nvPicPr>
        <p:blipFill>
          <a:blip r:embed="rId4">
            <a:alphaModFix/>
          </a:blip>
          <a:stretch>
            <a:fillRect/>
          </a:stretch>
        </p:blipFill>
        <p:spPr>
          <a:xfrm>
            <a:off x="114693" y="1461250"/>
            <a:ext cx="3950538" cy="350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ML Model</a:t>
            </a:r>
            <a:endParaRPr/>
          </a:p>
        </p:txBody>
      </p:sp>
      <p:sp>
        <p:nvSpPr>
          <p:cNvPr id="205" name="Google Shape;205;p2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t>For our machine learning model, we split our data into training and testing and began by cross validating our scores. We found our scores to be near zero, as well as the average mean of our score, which came out to be -0.0001. This validates our suspicions that our data shows no good relationship between our features and reaction time.</a:t>
            </a:r>
            <a:endParaRPr sz="1500"/>
          </a:p>
          <a:p>
            <a:pPr indent="0" lvl="0" marL="0" rtl="0" algn="l">
              <a:lnSpc>
                <a:spcPct val="150000"/>
              </a:lnSpc>
              <a:spcBef>
                <a:spcPts val="1200"/>
              </a:spcBef>
              <a:spcAft>
                <a:spcPts val="1200"/>
              </a:spcAft>
              <a:buNone/>
            </a:pPr>
            <a:r>
              <a:rPr lang="en" sz="1500"/>
              <a:t>We decided to try three different modeling techniques: two linear models, which were linear regression and polynomial regression, and a non-linear model named decision tree regression.</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Linear ML Models</a:t>
            </a:r>
            <a:endParaRPr/>
          </a:p>
        </p:txBody>
      </p:sp>
      <p:pic>
        <p:nvPicPr>
          <p:cNvPr id="211" name="Google Shape;211;p21"/>
          <p:cNvPicPr preferRelativeResize="0"/>
          <p:nvPr/>
        </p:nvPicPr>
        <p:blipFill>
          <a:blip r:embed="rId3">
            <a:alphaModFix/>
          </a:blip>
          <a:stretch>
            <a:fillRect/>
          </a:stretch>
        </p:blipFill>
        <p:spPr>
          <a:xfrm>
            <a:off x="932676" y="1460250"/>
            <a:ext cx="3563124" cy="3530849"/>
          </a:xfrm>
          <a:prstGeom prst="rect">
            <a:avLst/>
          </a:prstGeom>
          <a:noFill/>
          <a:ln>
            <a:noFill/>
          </a:ln>
        </p:spPr>
      </p:pic>
      <p:pic>
        <p:nvPicPr>
          <p:cNvPr id="212" name="Google Shape;212;p21"/>
          <p:cNvPicPr preferRelativeResize="0"/>
          <p:nvPr/>
        </p:nvPicPr>
        <p:blipFill>
          <a:blip r:embed="rId4">
            <a:alphaModFix/>
          </a:blip>
          <a:stretch>
            <a:fillRect/>
          </a:stretch>
        </p:blipFill>
        <p:spPr>
          <a:xfrm>
            <a:off x="4648200" y="1460250"/>
            <a:ext cx="3563124" cy="35308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Non-Linear ML Model</a:t>
            </a:r>
            <a:endParaRPr/>
          </a:p>
        </p:txBody>
      </p:sp>
      <p:pic>
        <p:nvPicPr>
          <p:cNvPr id="218" name="Google Shape;218;p22"/>
          <p:cNvPicPr preferRelativeResize="0"/>
          <p:nvPr/>
        </p:nvPicPr>
        <p:blipFill>
          <a:blip r:embed="rId3">
            <a:alphaModFix/>
          </a:blip>
          <a:stretch>
            <a:fillRect/>
          </a:stretch>
        </p:blipFill>
        <p:spPr>
          <a:xfrm>
            <a:off x="2023133" y="1155450"/>
            <a:ext cx="5097733" cy="3530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and Insights</a:t>
            </a:r>
            <a:endParaRPr/>
          </a:p>
        </p:txBody>
      </p:sp>
      <p:sp>
        <p:nvSpPr>
          <p:cNvPr id="224" name="Google Shape;224;p2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t>Our linear models shared an intercept of 400, with near-zero coefficients. This means that our linear models struggled to accurately predict Reaction Time.</a:t>
            </a:r>
            <a:endParaRPr sz="1500"/>
          </a:p>
          <a:p>
            <a:pPr indent="0" lvl="0" marL="0" rtl="0" algn="l">
              <a:lnSpc>
                <a:spcPct val="150000"/>
              </a:lnSpc>
              <a:spcBef>
                <a:spcPts val="1200"/>
              </a:spcBef>
              <a:spcAft>
                <a:spcPts val="0"/>
              </a:spcAft>
              <a:buNone/>
            </a:pPr>
            <a:r>
              <a:rPr lang="en" sz="1500"/>
              <a:t>Our </a:t>
            </a:r>
            <a:r>
              <a:rPr lang="en" sz="1500"/>
              <a:t>nonlinear</a:t>
            </a:r>
            <a:r>
              <a:rPr lang="en" sz="1500"/>
              <a:t> model had </a:t>
            </a:r>
            <a:r>
              <a:rPr lang="en" sz="1500"/>
              <a:t>varying</a:t>
            </a:r>
            <a:r>
              <a:rPr lang="en" sz="1500"/>
              <a:t> results, from 300 - 500. While this still falls short of our expectations, this was an improvement over our linear models.</a:t>
            </a:r>
            <a:endParaRPr sz="1500"/>
          </a:p>
          <a:p>
            <a:pPr indent="0" lvl="0" marL="0" rtl="0" algn="l">
              <a:lnSpc>
                <a:spcPct val="150000"/>
              </a:lnSpc>
              <a:spcBef>
                <a:spcPts val="1200"/>
              </a:spcBef>
              <a:spcAft>
                <a:spcPts val="1200"/>
              </a:spcAft>
              <a:buNone/>
            </a:pPr>
            <a:r>
              <a:rPr lang="en" sz="1500"/>
              <a:t>We used a depth of 3 in our </a:t>
            </a:r>
            <a:r>
              <a:rPr lang="en" sz="1500"/>
              <a:t>decision</a:t>
            </a:r>
            <a:r>
              <a:rPr lang="en" sz="1500"/>
              <a:t> tree, if our depth was higher, our model would’ve had better accuracy. However, due to graph constraints, we stopped at a depth of 3.</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Comparison</a:t>
            </a:r>
            <a:endParaRPr/>
          </a:p>
        </p:txBody>
      </p:sp>
      <p:sp>
        <p:nvSpPr>
          <p:cNvPr id="230" name="Google Shape;230;p24"/>
          <p:cNvSpPr txBox="1"/>
          <p:nvPr>
            <p:ph idx="1" type="body"/>
          </p:nvPr>
        </p:nvSpPr>
        <p:spPr>
          <a:xfrm>
            <a:off x="1297500" y="1034150"/>
            <a:ext cx="77235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t>Our decision tree  with a depth of 3 found the </a:t>
            </a:r>
            <a:r>
              <a:rPr lang="en" sz="1500"/>
              <a:t>lowest</a:t>
            </a:r>
            <a:r>
              <a:rPr lang="en" sz="1500"/>
              <a:t> RMSE of 98 by traveling through a specific set of nodes. These nodes were </a:t>
            </a:r>
            <a:r>
              <a:rPr lang="en" sz="1500"/>
              <a:t>Stimulation &gt; 135.75, Fatigue &gt; 25.976, and Balance &gt; -14.8. Because the decision tree worked the best, we could find that our features fit Reaction Time best non-linearly.</a:t>
            </a:r>
            <a:endParaRPr sz="1500"/>
          </a:p>
          <a:p>
            <a:pPr indent="0" lvl="0" marL="0" rtl="0" algn="l">
              <a:lnSpc>
                <a:spcPct val="150000"/>
              </a:lnSpc>
              <a:spcBef>
                <a:spcPts val="1200"/>
              </a:spcBef>
              <a:spcAft>
                <a:spcPts val="0"/>
              </a:spcAft>
              <a:buNone/>
            </a:pPr>
            <a:r>
              <a:rPr lang="en" sz="1500"/>
              <a:t>Our linear regression model barely outperformed the, scoring a RMSE value of 114.99. This was our simplest model, find coefficients for each feature and an intercept. Because the intercept dominated this graph, all the predictions were close to 400.</a:t>
            </a:r>
            <a:endParaRPr sz="1500"/>
          </a:p>
          <a:p>
            <a:pPr indent="0" lvl="0" marL="0" rtl="0" algn="l">
              <a:lnSpc>
                <a:spcPct val="150000"/>
              </a:lnSpc>
              <a:spcBef>
                <a:spcPts val="1200"/>
              </a:spcBef>
              <a:spcAft>
                <a:spcPts val="1200"/>
              </a:spcAft>
              <a:buNone/>
            </a:pPr>
            <a:r>
              <a:rPr lang="en" sz="1500"/>
              <a:t>Our polynomial regression model performed the worst, scoring a RMSE of 115.32 with a degree of 3. This graph’s predictions varied more than the linear regression, but performed worse.</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236" name="Google Shape;236;p25"/>
          <p:cNvSpPr txBox="1"/>
          <p:nvPr>
            <p:ph idx="1" type="body"/>
          </p:nvPr>
        </p:nvSpPr>
        <p:spPr>
          <a:xfrm>
            <a:off x="1297500" y="1567550"/>
            <a:ext cx="7107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500"/>
              <a:t>Due to our near zero correlations as well as our machine learning models showing high RMSE, we can conclude that the features that we used from our data show little to no relation with reaction time.</a:t>
            </a:r>
            <a:endParaRPr sz="1500"/>
          </a:p>
          <a:p>
            <a:pPr indent="0" lvl="0" marL="0" rtl="0" algn="l">
              <a:lnSpc>
                <a:spcPct val="150000"/>
              </a:lnSpc>
              <a:spcBef>
                <a:spcPts val="1200"/>
              </a:spcBef>
              <a:spcAft>
                <a:spcPts val="1200"/>
              </a:spcAft>
              <a:buNone/>
            </a:pPr>
            <a:r>
              <a:rPr lang="en" sz="1500"/>
              <a:t>This means that, given the features we used in our model, we do not have enough data to accurately predict reaction time. If we were to add more features that are commonly associated with reaction time, such as physical performance, cognitive load, as well as improving the features related to sleep, we would ideally have less error when predicting reaction time.</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242" name="Google Shape;242;p26"/>
          <p:cNvSpPr txBox="1"/>
          <p:nvPr>
            <p:ph idx="1" type="body"/>
          </p:nvPr>
        </p:nvSpPr>
        <p:spPr>
          <a:xfrm>
            <a:off x="46550" y="1373150"/>
            <a:ext cx="9045900" cy="35478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a:t>Bonnar, D., Sangha, L., Roane, B. M., Blum, D. J., Kahn, M., Jang, E., Dunican, I. C., Gradisar, M., &amp; Suh, S. (2022). Evaluation of a Brief Sleep Intervention Designed to Improve the Sleep, Mood, and Cognitive Performance of Esports Athletes. International Journal of Environmental Research and Public Health, 19(7), 4146. </a:t>
            </a:r>
            <a:r>
              <a:rPr lang="en" u="sng">
                <a:solidFill>
                  <a:schemeClr val="hlink"/>
                </a:solidFill>
                <a:hlinkClick r:id="rId3"/>
              </a:rPr>
              <a:t>https://doi.org/10.3390/ijerph19074146</a:t>
            </a:r>
            <a:endParaRPr/>
          </a:p>
          <a:p>
            <a:pPr indent="0" lvl="0" marL="0" rtl="0" algn="l">
              <a:spcBef>
                <a:spcPts val="1200"/>
              </a:spcBef>
              <a:spcAft>
                <a:spcPts val="0"/>
              </a:spcAft>
              <a:buNone/>
            </a:pPr>
            <a:r>
              <a:rPr lang="en"/>
              <a:t>Caccese, J. B., Eckner, J. T., Franco-MacKendrick, L., Hazzard, J. B., Ni, M., Broglio, S. P., McAllister, T. W., McCrea, M., &amp; Buckley, T. A. (2020). Clinical Reaction-Time Performance Factors in Healthy Collegiate Athletes. Journal of Athletic Training, 55(6), 601–607. </a:t>
            </a:r>
            <a:r>
              <a:rPr lang="en" u="sng">
                <a:solidFill>
                  <a:schemeClr val="hlink"/>
                </a:solidFill>
                <a:hlinkClick r:id="rId4"/>
              </a:rPr>
              <a:t>https://doi.org/10.4085/1062-6050-164-19</a:t>
            </a:r>
            <a:endParaRPr/>
          </a:p>
          <a:p>
            <a:pPr indent="0" lvl="0" marL="0" rtl="0" algn="l">
              <a:spcBef>
                <a:spcPts val="1200"/>
              </a:spcBef>
              <a:spcAft>
                <a:spcPts val="0"/>
              </a:spcAft>
              <a:buNone/>
            </a:pPr>
            <a:r>
              <a:rPr lang="en"/>
              <a:t>Pavelka, R., Třebický, V., Fialová, J. T., Zdobinský, A., Coufalová, K., Havlíček, J., &amp; Tufano, J. J. (2020). Acute fatigue affects reaction times and reaction consistency in Mixed Martial Arts fighters. PLoS One, 15(1), e0227675. </a:t>
            </a:r>
            <a:r>
              <a:rPr lang="en" u="sng">
                <a:solidFill>
                  <a:schemeClr val="hlink"/>
                </a:solidFill>
                <a:hlinkClick r:id="rId5"/>
              </a:rPr>
              <a:t>https://doi.org/10.1371/journal.pone.0227675</a:t>
            </a:r>
            <a:endParaRPr/>
          </a:p>
          <a:p>
            <a:pPr indent="0" lvl="0" marL="0" rtl="0" algn="l">
              <a:spcBef>
                <a:spcPts val="1200"/>
              </a:spcBef>
              <a:spcAft>
                <a:spcPts val="0"/>
              </a:spcAft>
              <a:buNone/>
            </a:pPr>
            <a:r>
              <a:rPr lang="en"/>
              <a:t>Wiesing, M., Fink, G. R., &amp; Weidner, R. (2020). Accuracy and precision of stimulus timing and reaction times with Unreal Engine and SteamVR. PLoS One, 15(4), e0231152. </a:t>
            </a:r>
            <a:r>
              <a:rPr lang="en" u="sng">
                <a:solidFill>
                  <a:schemeClr val="hlink"/>
                </a:solidFill>
                <a:hlinkClick r:id="rId6"/>
              </a:rPr>
              <a:t>https://doi.org/10.1371/journal.pone.0231152</a:t>
            </a:r>
            <a:endParaRPr/>
          </a:p>
          <a:p>
            <a:pPr indent="0" lvl="0" marL="0" rtl="0" algn="l">
              <a:spcBef>
                <a:spcPts val="1200"/>
              </a:spcBef>
              <a:spcAft>
                <a:spcPts val="0"/>
              </a:spcAft>
              <a:buNone/>
            </a:pPr>
            <a:r>
              <a:rPr lang="en"/>
              <a:t>Connaboy, C., LaGoy, A. D., Johnson, C. D., Sinnott, A. M., Eagle, S. R., Bower, J. L., Pepping, G.-J., Simpson, R. J., &amp; Alfano, C. A. (2020). Sleep deprivation impairs affordance perception behavior during an action boundary accuracy assessment. Acta Astronautica, 166, 270–276. </a:t>
            </a:r>
            <a:r>
              <a:rPr lang="en" u="sng">
                <a:solidFill>
                  <a:schemeClr val="hlink"/>
                </a:solidFill>
                <a:hlinkClick r:id="rId7"/>
              </a:rPr>
              <a:t>https://doi.org/10.1016/j.actaastro.2019.10.029</a:t>
            </a:r>
            <a:endParaRPr/>
          </a:p>
          <a:p>
            <a:pPr indent="0" lvl="0" marL="0" rtl="0" algn="l">
              <a:spcBef>
                <a:spcPts val="1200"/>
              </a:spcBef>
              <a:spcAft>
                <a:spcPts val="0"/>
              </a:spcAft>
              <a:buNone/>
            </a:pPr>
            <a:r>
              <a:rPr lang="en"/>
              <a:t>Harison, Sam (2025). Human Cognitive Performance Analysis. Kaggle. </a:t>
            </a:r>
            <a:r>
              <a:rPr lang="en" u="sng">
                <a:solidFill>
                  <a:schemeClr val="hlink"/>
                </a:solidFill>
                <a:hlinkClick r:id="rId8"/>
              </a:rPr>
              <a:t>https://www.kaggle.com/datasets/samxsam/human-cognitive-performance-analysis</a:t>
            </a:r>
            <a:endParaRPr/>
          </a:p>
          <a:p>
            <a:pPr indent="0" lvl="0" marL="0" rtl="0" algn="l">
              <a:spcBef>
                <a:spcPts val="1200"/>
              </a:spcBef>
              <a:spcAft>
                <a:spcPts val="0"/>
              </a:spcAft>
              <a:buNone/>
            </a:pPr>
            <a:r>
              <a:rPr lang="en"/>
              <a:t>Luu, A., Winans, A., Suniga, R., &amp; Motz, V. A. (2022). Reaction times for esport competitors and traditional physical athletes are faster than noncompetitive peers. The Ohio Journal of Science, 121(2), 15-20. doi:</a:t>
            </a:r>
            <a:r>
              <a:rPr lang="en" u="sng">
                <a:solidFill>
                  <a:schemeClr val="hlink"/>
                </a:solidFill>
                <a:hlinkClick r:id="rId9"/>
              </a:rPr>
              <a:t>https://doi.org/10.18061/ojs.v121i2.7677</a:t>
            </a:r>
            <a:endParaRPr/>
          </a:p>
          <a:p>
            <a:pPr indent="0" lvl="0" marL="0" rtl="0" algn="l">
              <a:spcBef>
                <a:spcPts val="1200"/>
              </a:spcBef>
              <a:spcAft>
                <a:spcPts val="0"/>
              </a:spcAft>
              <a:buNone/>
            </a:pPr>
            <a:r>
              <a:rPr lang="en"/>
              <a:t>Bickmann, P., Wechsler, K., Rudolf, K., Tholl, C., Froböse, I., &amp; Grieben, C. (2021). Comparison of Reaction Time Between eSports Players of Different Genres and Sportsmen. International Journal of eSports Research (IJER), 1(1), 1-16. </a:t>
            </a:r>
            <a:r>
              <a:rPr lang="en" u="sng">
                <a:solidFill>
                  <a:schemeClr val="hlink"/>
                </a:solidFill>
                <a:hlinkClick r:id="rId10"/>
              </a:rPr>
              <a:t>https://doi.org/10.4018/IJER.20210101.oa1</a:t>
            </a:r>
            <a:endParaRPr/>
          </a:p>
          <a:p>
            <a:pPr indent="0" lvl="0" marL="0" rtl="0" algn="l">
              <a:spcBef>
                <a:spcPts val="1200"/>
              </a:spcBef>
              <a:spcAft>
                <a:spcPts val="0"/>
              </a:spcAft>
              <a:buNone/>
            </a:pPr>
            <a:r>
              <a:rPr lang="en"/>
              <a:t>Lauren, Gravitz (2022) How Gamers Actually Sleep. Sleep Foundation. </a:t>
            </a:r>
            <a:r>
              <a:rPr lang="en" u="sng">
                <a:solidFill>
                  <a:schemeClr val="hlink"/>
                </a:solidFill>
                <a:hlinkClick r:id="rId11"/>
              </a:rPr>
              <a:t>https://www.sleepfoundation.org/sleep-news/how-video-games-affect-sleep-quality-over-time</a:t>
            </a:r>
            <a:endParaRPr/>
          </a:p>
          <a:p>
            <a:pPr indent="0" lvl="0" marL="0" rtl="0" algn="l">
              <a:spcBef>
                <a:spcPts val="1200"/>
              </a:spcBef>
              <a:spcAft>
                <a:spcPts val="1200"/>
              </a:spcAft>
              <a:buNone/>
            </a:pPr>
            <a:r>
              <a:rPr lang="en"/>
              <a:t>Kim, H. (2025). An esports edge?. University of Wisconsin La Crosse. </a:t>
            </a:r>
            <a:r>
              <a:rPr lang="en" u="sng">
                <a:solidFill>
                  <a:schemeClr val="hlink"/>
                </a:solidFill>
                <a:hlinkClick r:id="rId12"/>
              </a:rPr>
              <a:t>https://www.uwlax.edu/news/posts/an-esports-edge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